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1381bee69c435d" /><Relationship Type="http://schemas.openxmlformats.org/officeDocument/2006/relationships/extended-properties" Target="/docProps/app.xml" Id="R4a9176caa7db4047" /><Relationship Type="http://schemas.openxmlformats.org/officeDocument/2006/relationships/officeDocument" Target="/ppt/presentation.xml" Id="Rbe015531fbb14c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a94d7e43684567"/>
  </p:sldMasterIdLst>
  <p:notesMasterIdLst>
    <p:notesMasterId xmlns:r="http://schemas.openxmlformats.org/officeDocument/2006/relationships" r:id="R9bdb7c72762b495a"/>
  </p:notesMasterIdLst>
  <p:sldIdLst>
    <p:sldId xmlns:r="http://schemas.openxmlformats.org/officeDocument/2006/relationships" id="256" r:id="R49e5330d297149c4"/>
    <p:sldId xmlns:r="http://schemas.openxmlformats.org/officeDocument/2006/relationships" id="257" r:id="Rf9ed7923d6564e91"/>
    <p:sldId xmlns:r="http://schemas.openxmlformats.org/officeDocument/2006/relationships" id="258" r:id="R201190c609284f79"/>
    <p:sldId xmlns:r="http://schemas.openxmlformats.org/officeDocument/2006/relationships" id="259" r:id="Redf500b76cc74431"/>
    <p:sldId xmlns:r="http://schemas.openxmlformats.org/officeDocument/2006/relationships" id="260" r:id="Rca9a880dd460484a"/>
    <p:sldId xmlns:r="http://schemas.openxmlformats.org/officeDocument/2006/relationships" id="261" r:id="Rbf7a51922e8f450f"/>
    <p:sldId xmlns:r="http://schemas.openxmlformats.org/officeDocument/2006/relationships" id="262" r:id="R9559b8d4df34440f"/>
    <p:sldId xmlns:r="http://schemas.openxmlformats.org/officeDocument/2006/relationships" id="263" r:id="Rebba01dad2ee47da"/>
    <p:sldId xmlns:r="http://schemas.openxmlformats.org/officeDocument/2006/relationships" id="264" r:id="Rad4d751545124d27"/>
    <p:sldId xmlns:r="http://schemas.openxmlformats.org/officeDocument/2006/relationships" id="265" r:id="Rcc5838e14dc240d4"/>
    <p:sldId xmlns:r="http://schemas.openxmlformats.org/officeDocument/2006/relationships" id="266" r:id="Raab4567879d64046"/>
    <p:sldId xmlns:r="http://schemas.openxmlformats.org/officeDocument/2006/relationships" id="267" r:id="R7e10901d375d4acc"/>
    <p:sldId xmlns:r="http://schemas.openxmlformats.org/officeDocument/2006/relationships" id="268" r:id="R6de53d07a7ce4ef5"/>
    <p:sldId xmlns:r="http://schemas.openxmlformats.org/officeDocument/2006/relationships" id="269" r:id="Rc4d1cbeff6f44ef5"/>
    <p:sldId xmlns:r="http://schemas.openxmlformats.org/officeDocument/2006/relationships" id="270" r:id="R17dd96c3d31643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573ad43edd4599" /><Relationship Type="http://schemas.openxmlformats.org/officeDocument/2006/relationships/slideMaster" Target="/ppt/slideMasters/slideMaster1.xml" Id="Reca94d7e43684567" /><Relationship Type="http://schemas.openxmlformats.org/officeDocument/2006/relationships/notesMaster" Target="/ppt/notesMasters/notesMaster1.xml" Id="R9bdb7c72762b495a" /><Relationship Type="http://schemas.openxmlformats.org/officeDocument/2006/relationships/presProps" Target="/ppt/presProps.xml" Id="Rfe2b49df7e7641d0" /><Relationship Type="http://schemas.openxmlformats.org/officeDocument/2006/relationships/tableStyles" Target="/ppt/tableStyles.xml" Id="R8ca76950f8eb4a9f" /><Relationship Type="http://schemas.openxmlformats.org/officeDocument/2006/relationships/slide" Target="/ppt/slides/slide1.xml" Id="R49e5330d297149c4" /><Relationship Type="http://schemas.openxmlformats.org/officeDocument/2006/relationships/slide" Target="/ppt/slides/slide2.xml" Id="Rf9ed7923d6564e91" /><Relationship Type="http://schemas.openxmlformats.org/officeDocument/2006/relationships/slide" Target="/ppt/slides/slide3.xml" Id="R201190c609284f79" /><Relationship Type="http://schemas.openxmlformats.org/officeDocument/2006/relationships/slide" Target="/ppt/slides/slide4.xml" Id="Redf500b76cc74431" /><Relationship Type="http://schemas.openxmlformats.org/officeDocument/2006/relationships/slide" Target="/ppt/slides/slide5.xml" Id="Rca9a880dd460484a" /><Relationship Type="http://schemas.openxmlformats.org/officeDocument/2006/relationships/slide" Target="/ppt/slides/slide6.xml" Id="Rbf7a51922e8f450f" /><Relationship Type="http://schemas.openxmlformats.org/officeDocument/2006/relationships/slide" Target="/ppt/slides/slide7.xml" Id="R9559b8d4df34440f" /><Relationship Type="http://schemas.openxmlformats.org/officeDocument/2006/relationships/slide" Target="/ppt/slides/slide8.xml" Id="Rebba01dad2ee47da" /><Relationship Type="http://schemas.openxmlformats.org/officeDocument/2006/relationships/slide" Target="/ppt/slides/slide9.xml" Id="Rad4d751545124d27" /><Relationship Type="http://schemas.openxmlformats.org/officeDocument/2006/relationships/slide" Target="/ppt/slides/slide10.xml" Id="Rcc5838e14dc240d4" /><Relationship Type="http://schemas.openxmlformats.org/officeDocument/2006/relationships/slide" Target="/ppt/slides/slide11.xml" Id="Raab4567879d64046" /><Relationship Type="http://schemas.openxmlformats.org/officeDocument/2006/relationships/slide" Target="/ppt/slides/slide12.xml" Id="R7e10901d375d4acc" /><Relationship Type="http://schemas.openxmlformats.org/officeDocument/2006/relationships/slide" Target="/ppt/slides/slide13.xml" Id="R6de53d07a7ce4ef5" /><Relationship Type="http://schemas.openxmlformats.org/officeDocument/2006/relationships/slide" Target="/ppt/slides/slide14.xml" Id="Rc4d1cbeff6f44ef5" /><Relationship Type="http://schemas.openxmlformats.org/officeDocument/2006/relationships/slide" Target="/ppt/slides/slide15.xml" Id="R17dd96c3d31643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1380035e2d4e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96c45de7d64602" /><Relationship Type="http://schemas.openxmlformats.org/officeDocument/2006/relationships/notesMaster" Target="/ppt/notesMasters/notesMaster1.xml" Id="Rc393e9d5f73b42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34d9b98d6e4bfa" /><Relationship Type="http://schemas.openxmlformats.org/officeDocument/2006/relationships/notesMaster" Target="/ppt/notesMasters/notesMaster1.xml" Id="R9594a6ba94b34f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91e290f3b84d54" /><Relationship Type="http://schemas.openxmlformats.org/officeDocument/2006/relationships/notesMaster" Target="/ppt/notesMasters/notesMaster1.xml" Id="R69c1ae5618e942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301ed35aff4b4a" /><Relationship Type="http://schemas.openxmlformats.org/officeDocument/2006/relationships/notesMaster" Target="/ppt/notesMasters/notesMaster1.xml" Id="R3acd79c6684442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fdd339c6ad4e91" /><Relationship Type="http://schemas.openxmlformats.org/officeDocument/2006/relationships/notesMaster" Target="/ppt/notesMasters/notesMaster1.xml" Id="Rab0d923bb2c645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77bbe217b848fc" /><Relationship Type="http://schemas.openxmlformats.org/officeDocument/2006/relationships/notesMaster" Target="/ppt/notesMasters/notesMaster1.xml" Id="Rcd3fd54e9e0248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9062c2986f4823" /><Relationship Type="http://schemas.openxmlformats.org/officeDocument/2006/relationships/notesMaster" Target="/ppt/notesMasters/notesMaster1.xml" Id="R44aa0e81cf3545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ff96dff9f42f9" /><Relationship Type="http://schemas.openxmlformats.org/officeDocument/2006/relationships/notesMaster" Target="/ppt/notesMasters/notesMaster1.xml" Id="Rd0657480ea0c4f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b57bb5ac51428f" /><Relationship Type="http://schemas.openxmlformats.org/officeDocument/2006/relationships/notesMaster" Target="/ppt/notesMasters/notesMaster1.xml" Id="R3a0e83f491dc4d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8549c64af34cb5" /><Relationship Type="http://schemas.openxmlformats.org/officeDocument/2006/relationships/notesMaster" Target="/ppt/notesMasters/notesMaster1.xml" Id="Re5d17dbc80b944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7d59727dbc4b36" /><Relationship Type="http://schemas.openxmlformats.org/officeDocument/2006/relationships/notesMaster" Target="/ppt/notesMasters/notesMaster1.xml" Id="Re4e2e1ff10c94d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186a6083a6440e" /><Relationship Type="http://schemas.openxmlformats.org/officeDocument/2006/relationships/notesMaster" Target="/ppt/notesMasters/notesMaster1.xml" Id="R0669bd19e80f4a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8753952d2544a7" /><Relationship Type="http://schemas.openxmlformats.org/officeDocument/2006/relationships/notesMaster" Target="/ppt/notesMasters/notesMaster1.xml" Id="Rb75167f4c8b444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6815de9ea547ee" /><Relationship Type="http://schemas.openxmlformats.org/officeDocument/2006/relationships/notesMaster" Target="/ppt/notesMasters/notesMaster1.xml" Id="R7b47087f93d647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0fe070b6cd4c3f" /><Relationship Type="http://schemas.openxmlformats.org/officeDocument/2006/relationships/notesMaster" Target="/ppt/notesMasters/notesMaster1.xml" Id="R07e7c9279ab049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Proyecto personal presentado como TFM del Máster de Desarrollo con IA. El autor debe explicar su trabajo con su propia voz. Emblema original del proyecto. Referencia académica: Documentacion-TFM.pdf, portada.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Alcance: disposiciones generales de la Sección I del BOE. El proyecto simplifica la primera lectura y mantiene el enlace a la fuente oficial. Fuentes: README.md y módulos ingestion/summarization. No afirmar cobertura de todo el BOE ni precisión legal absoluta.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real en https://agenteboe.com/. Captura del 4 de octubre de 2026. La lectura del catálogo no exige registro. Fuente: apps/web/src/app/page.tsx y EntryBrowser.tsx.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Ficha de ejemplo: https://agenteboe.com/d/BOE-A-2026-20528. Fuente oficial: https://www.boe.es/diario_boe/txt.php?id=BOE-A-2026-20528. La captura prueba presentación, no constituye asesoramiento jurídico.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Funciones verificadas en el repositorio: catálogo, fichas, búsqueda remota, notificaciones, spending, datos curados y assistant. La prensa y el juego son funciones complementarias. Área de estudio y CV personales quedan fuera del foco del TFM.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Versiones verificadas en package.json y package-lock.json. Node &gt;=22 es el requisito declarado, Next utilizado 15.5.26 y Vitest 3.2.7. PostgreSQL16 según docker-compose. No afirmar dependencias de IA SDK: se usa HTTP compatible OpenAI.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apps/monolith/src/composition.ts y los módulos de negocio. Event bus en memoria. Catalog se suscribe antes de summarization para no perder la proyección. No es una cola distribuida ni garantiza exactly-once.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módulos ingestion y summarization, ReviewedSummarizer y cron de main.ts. Doble pasada para resúmenes; revisión que mejora sin bloquear. La idempotencia se fundamenta en claveBOE y estado persistente, no en garantizar eventos exactamente una vez.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LEGAL.md, MiniMaxSummarizer/ReviewedSummarizer y módulos assistant. Las preguntas salen a proveedores externos. Las fuentes deben revisarse. El registro no otorga acceso al material de estudio.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https://agenteboe.com/subvenciones, BDNS y módulo spending. Pensiones y reparto fiscal usan fuentes curadas, con año y procedencia. Los importes concretos de la captura son una instantánea, no cifras universales ni detección de irregularidades.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portada.css, editorial.css, boe-bot.css, BoeBotPanel.tsx y TopicLogo.tsx. Revisión visual en375px/1440px. No afirmar certificación WCAG ni evaluación formal con usuarios.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Pruebas ejecutadas el4oct2026. Fuente: Documentos trabajo/Verificacion-tecnica.md. Totales237monolith+79web=316. No equivale a benchmark, auditoría de penetración ni medición estadística de fidelidad.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docker-compose.prod.yml, scripts/deploy-vps.sh y Estado-produccion.md. WebVercel despliega main; VPS sirveAPI+Postgres y túnelCloudflare. No incluir IP, claves, capturas delpaneladministración ni tokens.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reproducible en Documentos trabajo/Guia-evaluador.md. Usar tfm_demo con permiso student. Evitar datos personales. No abrir cuadernos privados, CV ni administración. Mostrar primero funciones públicas.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Conclusión basada en aplicación operativa y pruebas del código. No inventar aprendizaje personal del autor: en la defensa Roberto debe explicar decisiones y uso de IA con sus propias palabras. Mejoras propuestas, no implementadas: cola persistente, conjunto de evaluación factual y monitorización de latencia.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e2c65ae374d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1cdc00344b4b64" /><Relationship Type="http://schemas.openxmlformats.org/officeDocument/2006/relationships/slideLayout" Target="/ppt/slideLayouts/slideLayout1.xml" Id="Rb3b55d0479c146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b55d0479c146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7cb9518d84f5d" /><Relationship Type="http://schemas.openxmlformats.org/officeDocument/2006/relationships/image" Target="/ppt/media/image.jpeg" Id="R3f88d098069f419b" /><Relationship Type="http://schemas.openxmlformats.org/officeDocument/2006/relationships/notesSlide" Target="/ppt/notesSlides/notesSlide1.xml" Id="Re85334a55d694b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a3da8d3144352" /><Relationship Type="http://schemas.openxmlformats.org/officeDocument/2006/relationships/notesSlide" Target="/ppt/notesSlides/notesSlide2.xml" Id="R7acd6c60eff249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3cd5a17f74348" /><Relationship Type="http://schemas.openxmlformats.org/officeDocument/2006/relationships/image" Target="/ppt/media/image2.jpeg" Id="R9eecd8a1cd964d17" /><Relationship Type="http://schemas.openxmlformats.org/officeDocument/2006/relationships/notesSlide" Target="/ppt/notesSlides/notesSlide3.xml" Id="R39eb36064ed44c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02867eb8b4b19" /><Relationship Type="http://schemas.openxmlformats.org/officeDocument/2006/relationships/image" Target="/ppt/media/image3.jpeg" Id="Ref5765257e9b44a8" /><Relationship Type="http://schemas.openxmlformats.org/officeDocument/2006/relationships/notesSlide" Target="/ppt/notesSlides/notesSlide4.xml" Id="Rd1972e6e03624e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2be52be4c4fd4" /><Relationship Type="http://schemas.openxmlformats.org/officeDocument/2006/relationships/notesSlide" Target="/ppt/notesSlides/notesSlide5.xml" Id="Raf3b03b935a74f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be37cf323445f" /><Relationship Type="http://schemas.openxmlformats.org/officeDocument/2006/relationships/notesSlide" Target="/ppt/notesSlides/notesSlide6.xml" Id="R18ab7613f13b47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c9ee8a02e4c42" /><Relationship Type="http://schemas.openxmlformats.org/officeDocument/2006/relationships/notesSlide" Target="/ppt/notesSlides/notesSlide7.xml" Id="R0b22c1f705a54f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cf9c644ff4d93" /><Relationship Type="http://schemas.openxmlformats.org/officeDocument/2006/relationships/notesSlide" Target="/ppt/notesSlides/notesSlide8.xml" Id="Rcca0926c909342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e596336fd4f20" /><Relationship Type="http://schemas.openxmlformats.org/officeDocument/2006/relationships/notesSlide" Target="/ppt/notesSlides/notesSlide9.xml" Id="Raf68163bc4bc46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aa85ddcbb48ff" /><Relationship Type="http://schemas.openxmlformats.org/officeDocument/2006/relationships/image" Target="/ppt/media/image4.jpeg" Id="Rbb9c562e4b3f457e" /><Relationship Type="http://schemas.openxmlformats.org/officeDocument/2006/relationships/notesSlide" Target="/ppt/notesSlides/notesSlide10.xml" Id="R27f8702865fa4d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a00fd48c34d37" /><Relationship Type="http://schemas.openxmlformats.org/officeDocument/2006/relationships/image" Target="/ppt/media/image5.jpeg" Id="R2aed1ad3295a4443" /><Relationship Type="http://schemas.openxmlformats.org/officeDocument/2006/relationships/notesSlide" Target="/ppt/notesSlides/notesSlide11.xml" Id="Rd153af67aebc45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02f77169b4042" /><Relationship Type="http://schemas.openxmlformats.org/officeDocument/2006/relationships/notesSlide" Target="/ppt/notesSlides/notesSlide12.xml" Id="Rb3371c2d3a1d48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86c18548541a8" /><Relationship Type="http://schemas.openxmlformats.org/officeDocument/2006/relationships/notesSlide" Target="/ppt/notesSlides/notesSlide13.xml" Id="Re29b5a142f3246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9c6ab6a234ba1" /><Relationship Type="http://schemas.openxmlformats.org/officeDocument/2006/relationships/notesSlide" Target="/ppt/notesSlides/notesSlide14.xml" Id="Rdd843565382c43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43fdc564d4d7f" /><Relationship Type="http://schemas.openxmlformats.org/officeDocument/2006/relationships/notesSlide" Target="/ppt/notesSlides/notesSlide15.xml" Id="R9f9e62ee940b4c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44A6C-77B5-44DB-9F48-CA4E3026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4C78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E4C78F"/>
                </a:solidFill>
                <a:latin typeface="Arial"/>
                <a:ea typeface="Arial"/>
                <a:cs typeface="Arial"/>
              </a:rPr>
              <a:t>Agente BOE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25B9C-74CE-4D16-B73D-CDB292CD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El BOE, resumido cada día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A724E-ED2D-4708-A2EC-2A1823F2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4D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4D5"/>
                </a:solidFill>
                <a:latin typeface="Arial"/>
                <a:ea typeface="Arial"/>
                <a:cs typeface="Arial"/>
              </a:rPr>
              <a:t>Trabajo final de máster</a:t>
            </a:r>
          </a:p>
          <a:p xmlns:a="http://schemas.openxmlformats.org/drawingml/2006/main">
            <a:pPr>
              <a:defRPr sz="2025" b="0">
                <a:solidFill>
                  <a:srgbClr val="B7C4D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4D5"/>
                </a:solidFill>
                <a:latin typeface="Arial"/>
                <a:ea typeface="Arial"/>
                <a:cs typeface="Arial"/>
              </a:rPr>
              <a:t>Roberto Casabán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8d098069f419b"/>
          <a:stretch xmlns:a="http://schemas.openxmlformats.org/drawingml/2006/main"/>
        </p:blipFill>
        <p:spPr>
          <a:xfrm xmlns:a="http://schemas.openxmlformats.org/drawingml/2006/main">
            <a:off x="7334250" y="2338329"/>
            <a:ext cx="4191000" cy="22765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21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87D1A-2790-4BCC-A8CE-E885095B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El problema de lectura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AC845-4761-4A72-B4DA-1A9E153F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Las disposiciones generales pueden ser extensas y requieren tiempo para encontrar los cambios relevantes.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DC1E6-6C50-4D46-AAA8-401CF0DF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Agente BOE ofrece una primera lectura en lenguaje claro, con búsqueda por temas e impacto orientativo.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27D41-FBE4-46A8-AF5E-ADDC2FD5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El texto oficial permanece accesible antes de cada resumen. La IA puede cometer errores.</a:t>
            </a:r>
          </a:p>
        </p:txBody>
      </p:sp>
    </p:spTree>
    <p:extLst>
      <p:ext uri="{BB962C8B-B14F-4D97-AF65-F5344CB8AC3E}">
        <p14:creationId xmlns:p14="http://schemas.microsoft.com/office/powerpoint/2010/main" val="911390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873DF-9301-454B-AFCB-10DEF797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La aplicación en funcionamiento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cd8a1cd964d17"/>
          <a:stretch xmlns:a="http://schemas.openxmlformats.org/drawingml/2006/main"/>
        </p:blipFill>
        <p:spPr>
          <a:xfrm xmlns:a="http://schemas.openxmlformats.org/drawingml/2006/main">
            <a:off x="5524500" y="1682750"/>
            <a:ext cx="6057900" cy="42068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19130-99EF-4D68-9A49-C7623092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72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Último boletín y disposición destacada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66DF9-DC5B-4207-A72E-6E466E87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572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Búsqueda temática y filtros de impacto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D4BD5-99F4-42F8-A78B-B0DEB557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572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Avisos gratuitos por Telegram y Discord</a:t>
            </a:r>
          </a:p>
        </p:txBody>
      </p:sp>
    </p:spTree>
    <p:extLst>
      <p:ext uri="{BB962C8B-B14F-4D97-AF65-F5344CB8AC3E}">
        <p14:creationId xmlns:p14="http://schemas.microsoft.com/office/powerpoint/2010/main" val="908680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8AAC0-0AF5-4C40-83DD-57D451C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Una disposición y su fuente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765257e9b44a8"/>
          <a:stretch xmlns:a="http://schemas.openxmlformats.org/drawingml/2006/main"/>
        </p:blipFill>
        <p:spPr>
          <a:xfrm xmlns:a="http://schemas.openxmlformats.org/drawingml/2006/main">
            <a:off x="4772025" y="1524000"/>
            <a:ext cx="6515100" cy="45243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DB2F6-F74B-4C0D-914B-362F0215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28612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Enlace al BOE por encima del resumen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20161-9CC5-4C97-83C7-7F559ABE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28612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Fecha de actualización del texto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F5918-E565-42CE-A3C9-BC29E436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28612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Identificación de contenido generado por IA</a:t>
            </a:r>
          </a:p>
        </p:txBody>
      </p:sp>
    </p:spTree>
    <p:extLst>
      <p:ext uri="{BB962C8B-B14F-4D97-AF65-F5344CB8AC3E}">
        <p14:creationId xmlns:p14="http://schemas.microsoft.com/office/powerpoint/2010/main" val="522565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2112F-9EA2-4A3D-84B2-0D231BBC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Funciones del servicio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34E73-92C1-483D-8773-ADB49ACC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Catálogo y fichas: lectura pública, búsqueda por temas y filtros de fecha e impacto.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3DB6F-4B0B-46A8-9693-01CB6E1D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Radiografías: subvenciones de la BDNS, pensiones y reparto de la recaudación.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B7D0F-3CF8-4F3D-9938-9CAE23E8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BoeBot: preguntas sobre el archivo o una disposición, con autenticación y fuentes.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B40A2-7795-45DE-9606-7E30090E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Funciones complementarias: titulares RSS, suscripción a canales y juego.</a:t>
            </a:r>
          </a:p>
        </p:txBody>
      </p:sp>
    </p:spTree>
    <p:extLst>
      <p:ext uri="{BB962C8B-B14F-4D97-AF65-F5344CB8AC3E}">
        <p14:creationId xmlns:p14="http://schemas.microsoft.com/office/powerpoint/2010/main" val="20733497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DB4A6-6F37-47F3-A55F-567F0C3F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Stack tecnológico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4C78F"/>
                          </a:solidFill>
                          <a:latin typeface="Arial"/>
                          <a:ea typeface="Arial"/>
                          <a:cs typeface="Arial"/>
                        </a:rPr>
                        <a:t>Capa</a:t>
                      </a:r>
                    </a:p>
                  </a:txBody>
                  <a:tcPr marL="114300" marR="114300" marT="114300" marB="114300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4C78F"/>
                          </a:solidFill>
                          <a:latin typeface="Arial"/>
                          <a:ea typeface="Arial"/>
                          <a:cs typeface="Arial"/>
                        </a:rPr>
                        <a:t>Tecnologías</a:t>
                      </a:r>
                    </a:p>
                  </a:txBody>
                  <a:tcPr marL="114300" marR="114300" marT="114300" marB="114300">
                    <a:solidFill>
                      <a:srgbClr val="152238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Web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Next.js 15 y React 19, con TypeScript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API y procesos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Node.js 22+, Fastify 5 y node-cron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Persistencia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PostgreSQL 16 y Drizzle ORM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IA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API HTTP compatible con OpenAI, MiniMax por defecto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Calidad y operación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Vitest, dependency-cruiser, Docker, Vercel y VPS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514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079D4-7C32-4AAD-A762-932A5E2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Arquitectura del núcleo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4C78F"/>
                          </a:solidFill>
                          <a:latin typeface="Arial"/>
                          <a:ea typeface="Arial"/>
                          <a:cs typeface="Arial"/>
                        </a:rPr>
                        <a:t>Módulo</a:t>
                      </a:r>
                    </a:p>
                  </a:txBody>
                  <a:tcPr marL="114300" marR="114300" marT="114300" marB="114300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4C78F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114300" marR="114300" marT="114300" marB="114300">
                    <a:solidFill>
                      <a:srgbClr val="152238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ingestion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Consultar BOE, extraer texto y registrar nuevas disposiciones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summarization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Redactar el resumen y realizar una segunda revisión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catalog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Mantener una proyección para consultas y fichas de la web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notifications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Enviar resúmenes a los canales configurados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Otros módulos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spending, assistant, electricidad y juego tienen sus propios límites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5820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5755E-0A1B-4EF1-BB5E-761D07BA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Ingesta y generación de resúmenes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1DB7E-95EE-4C5F-8283-1434DEFA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1. El cron consulta el sumario oficial y selecciona la Sección 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26895-65D4-4159-B810-8E10D78B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2. Cada documento utiliza su identificador BOE como clave natural.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3548C-3A36-4B4F-9AC1-1871E7A2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3. La IA redacta un resumen y otra pasada lo contrasta con el texto.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2F1D6-1239-4F47-8F7E-2C9C2FB9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4. El catálogo sirve el resultado y las notificaciones registran sus envíos.</a:t>
            </a:r>
          </a:p>
        </p:txBody>
      </p:sp>
    </p:spTree>
    <p:extLst>
      <p:ext uri="{BB962C8B-B14F-4D97-AF65-F5344CB8AC3E}">
        <p14:creationId xmlns:p14="http://schemas.microsoft.com/office/powerpoint/2010/main" val="1388793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E18EB-224A-4E95-8DE4-00876B4A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Decisiones y límites de la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154F5-CD66-4148-BC03-7286ED91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Proveedor desacoplado mediante un puerto y un adaptador HTTP.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86811-CAB8-4CF5-91D9-3BFDCEAA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Resúmenes y respuestas identificados como contenido generado por 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B187B-8107-4E2E-92CE-8D2CABAB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Fuentes y fechas para facilitar la comprobación por el lector.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48F09-1D4A-4C6E-974F-867E7110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Limitaciones: errores, latencia, coste de inferencia y contexto incompleto.</a:t>
            </a:r>
          </a:p>
        </p:txBody>
      </p:sp>
    </p:spTree>
    <p:extLst>
      <p:ext uri="{BB962C8B-B14F-4D97-AF65-F5344CB8AC3E}">
        <p14:creationId xmlns:p14="http://schemas.microsoft.com/office/powerpoint/2010/main" val="884672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151F9-D0EC-47D0-8F2C-A1AE73EE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Radiografías del dinero público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c562e4b3f457e"/>
          <a:stretch xmlns:a="http://schemas.openxmlformats.org/drawingml/2006/main"/>
        </p:blipFill>
        <p:spPr>
          <a:xfrm xmlns:a="http://schemas.openxmlformats.org/drawingml/2006/main">
            <a:off x="4893945" y="1476375"/>
            <a:ext cx="6652260" cy="4619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6EFCD-11DE-4C6E-9B5D-451AB903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714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Subvenciones: convocatorias y concesión directa en la BDNS.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E56B-1851-4AA9-8C8B-5E82CF07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714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Pensiones: evolución del gasto y contexto de financiación.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D60B5-5700-4DE2-80A0-B82F7CF4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3714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Quién paga: impuestos y reparto de la recaudación.</a:t>
            </a:r>
          </a:p>
        </p:txBody>
      </p:sp>
    </p:spTree>
    <p:extLst>
      <p:ext uri="{BB962C8B-B14F-4D97-AF65-F5344CB8AC3E}">
        <p14:creationId xmlns:p14="http://schemas.microsoft.com/office/powerpoint/2010/main" val="8381331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820B4-472F-406D-901D-BB65CB3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Experiencia de lectura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d1ad3295a4443"/>
          <a:stretch xmlns:a="http://schemas.openxmlformats.org/drawingml/2006/main"/>
        </p:blipFill>
        <p:spPr>
          <a:xfrm xmlns:a="http://schemas.openxmlformats.org/drawingml/2006/main">
            <a:off x="8932327" y="1504950"/>
            <a:ext cx="2137846" cy="4629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8D25C-2F1B-4F50-A9CF-15E4EDE6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477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Diseño adaptable con controles de tamaño táctil.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FC5A2-1AEE-4915-9A03-D0ABE6A0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7477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Respuestas del chatbot con texto de 17 px y espacio de lectura.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88021-FB55-45BF-A100-8A4CD77A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7477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Diálogos con Escape y gestión del foco.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1FB3B-B7AD-4C74-A9DC-B3B23758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7477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Animaciones suaves que respetan reducir movimiento.</a:t>
            </a:r>
          </a:p>
        </p:txBody>
      </p:sp>
    </p:spTree>
    <p:extLst>
      <p:ext uri="{BB962C8B-B14F-4D97-AF65-F5344CB8AC3E}">
        <p14:creationId xmlns:p14="http://schemas.microsoft.com/office/powerpoint/2010/main" val="1508031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377C3-8DE1-4986-836B-1C618EF5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Verificación técnica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4C78F"/>
                          </a:solidFill>
                          <a:latin typeface="Arial"/>
                          <a:ea typeface="Arial"/>
                          <a:cs typeface="Arial"/>
                        </a:rPr>
                        <a:t>Comprobación</a:t>
                      </a:r>
                    </a:p>
                  </a:txBody>
                  <a:tcPr marL="114300" marR="114300" marT="114300" marB="114300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4C78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114300" marR="114300" marT="114300" marB="114300">
                    <a:solidFill>
                      <a:srgbClr val="152238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Pruebas automatizadas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316 correctas: 237 del monolito y 79 de la web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TypeScript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Sin errores en ambos workspaces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Fronteras de módulos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127 módulos y 409 dependencias sin violaciones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Compilación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Web:156 páginas estáticas. Monolito: compilación correcta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Comprobación pública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0EEE7"/>
                          </a:solidFill>
                          <a:latin typeface="Arial"/>
                          <a:ea typeface="Arial"/>
                          <a:cs typeface="Arial"/>
                        </a:rPr>
                        <a:t>Web, radiografías, catálogo y /health disponibles</a:t>
                      </a:r>
                    </a:p>
                  </a:txBody>
                  <a:tcPr marL="114300" marR="114300" marT="114300" marB="114300">
                    <a:solidFill>
                      <a:srgbClr val="0A111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602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28782-7F24-4436-A6C0-3C102D9D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Despliegue y operación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8B885-A793-4AE5-AC82-8FE61362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La web se publica en Vercel al actualizar la rama main.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80C19-6E99-464B-B047-BAB86CC4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La API y PostgreSQL funcionan en el VPS con Docker Compose.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95F2C-8A9A-40F4-A3D2-36A1AA54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Cloudflare Tunnel publica la API sin abrir PostgreSQL a Internet.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4D52D-B39F-4195-9B14-BD04A7D1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Código y contenedor se verifican por separado. Copias lógicas y registros apoyan la operación.</a:t>
            </a:r>
          </a:p>
        </p:txBody>
      </p:sp>
    </p:spTree>
    <p:extLst>
      <p:ext uri="{BB962C8B-B14F-4D97-AF65-F5344CB8AC3E}">
        <p14:creationId xmlns:p14="http://schemas.microsoft.com/office/powerpoint/2010/main" val="9527403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D2170-EA41-4E76-B8B0-F899AB08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Demostración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AB09E-7C62-48CF-AFE5-38367D48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Portada: abrir el último boletín y localizar una disposición.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BFBF8-A829-4692-A99D-AF7F34A8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Ficha: leer el resumen y abrir su texto oficial.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DD706-B128-43EC-A69A-F214667F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Radiografías: cambiar el periodo o la unidad del gráfico.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B69A0-6744-4ED4-8115-9EEF12D5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BoeBot: iniciar sesión de prueba y contrastar las fuentes de una respuesta.</a:t>
            </a:r>
          </a:p>
        </p:txBody>
      </p:sp>
    </p:spTree>
    <p:extLst>
      <p:ext uri="{BB962C8B-B14F-4D97-AF65-F5344CB8AC3E}">
        <p14:creationId xmlns:p14="http://schemas.microsoft.com/office/powerpoint/2010/main" val="11380605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9025B-BC0C-4740-827F-84768E89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EEE7"/>
                </a:solidFill>
                <a:latin typeface="Arial"/>
                <a:ea typeface="Arial"/>
                <a:cs typeface="Arial"/>
              </a:rPr>
              <a:t>Conclusiones y siguientes mejoras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BA0D5-501F-4A33-A60E-4764BE1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El proyecto conecta una fuente pública con una aplicación utilizable y desplegada.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2A8D2-6FEC-42CB-9280-E32B9967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El núcleo separa ingesta, IA, consulta y notificaciones mediante puertos y eventos.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F641A-07E7-450C-AE1B-D7194582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EE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0EEE7"/>
                </a:solidFill>
                <a:latin typeface="Arial"/>
                <a:ea typeface="Arial"/>
                <a:cs typeface="Arial"/>
              </a:rPr>
              <a:t>Las siguientes mejoras son evaluar la fidelidad con un conjunto de referencia y controlar la latencia del asistente.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715FB-22F8-43C8-9221-2E677A7B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C78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4C78F"/>
                </a:solidFill>
                <a:latin typeface="Arial"/>
                <a:ea typeface="Arial"/>
                <a:cs typeface="Arial"/>
              </a:rPr>
              <a:t>agenteboe.com</a:t>
            </a:r>
          </a:p>
        </p:txBody>
      </p:sp>
    </p:spTree>
    <p:extLst>
      <p:ext uri="{BB962C8B-B14F-4D97-AF65-F5344CB8AC3E}">
        <p14:creationId xmlns:p14="http://schemas.microsoft.com/office/powerpoint/2010/main" val="1347731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2026-10-03T22:29:21.8780000Z</dcterms:created>
  <dcterms:modified xsi:type="dcterms:W3CDTF">2026-10-03T22:29:21.8780000Z</dcterms:modified>
</coreProperties>
</file>